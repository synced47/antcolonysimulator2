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</p:sldIdLst>
  <p:sldSz cx="15119350" cy="10691813"/>
  <p:notesSz cx="6858000" cy="9144000"/>
  <p:defaultTextStyle>
    <a:defPPr>
      <a:defRPr lang="en-US"/>
    </a:defPPr>
    <a:lvl1pPr marL="0" algn="l" defTabSz="619407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1pPr>
    <a:lvl2pPr marL="619407" algn="l" defTabSz="619407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2pPr>
    <a:lvl3pPr marL="1238818" algn="l" defTabSz="619407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3pPr>
    <a:lvl4pPr marL="1858225" algn="l" defTabSz="619407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4pPr>
    <a:lvl5pPr marL="2477634" algn="l" defTabSz="619407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5pPr>
    <a:lvl6pPr marL="3097041" algn="l" defTabSz="619407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6pPr>
    <a:lvl7pPr marL="3716450" algn="l" defTabSz="619407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7pPr>
    <a:lvl8pPr marL="4335859" algn="l" defTabSz="619407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8pPr>
    <a:lvl9pPr marL="4955266" algn="l" defTabSz="619407" rtl="0" eaLnBrk="1" latinLnBrk="0" hangingPunct="1">
      <a:defRPr sz="2439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1320" y="-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961" y="2375958"/>
            <a:ext cx="13229431" cy="3563938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961" y="7127874"/>
            <a:ext cx="13229431" cy="23759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65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00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961" y="2375961"/>
            <a:ext cx="13229431" cy="4737067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961" y="7155103"/>
            <a:ext cx="13229431" cy="2348733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75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7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4960" y="3563938"/>
            <a:ext cx="6387924" cy="5939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86466" y="3563938"/>
            <a:ext cx="6387927" cy="5939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4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961" y="1187979"/>
            <a:ext cx="13229431" cy="23759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960" y="3563938"/>
            <a:ext cx="6387924" cy="1187978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4960" y="4751917"/>
            <a:ext cx="6387924" cy="47519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86463" y="3563938"/>
            <a:ext cx="6387928" cy="1187978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86463" y="4751917"/>
            <a:ext cx="6387928" cy="47519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95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90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959" y="1187976"/>
            <a:ext cx="4724797" cy="2375962"/>
          </a:xfrm>
        </p:spPr>
        <p:txBody>
          <a:bodyPr anchor="t" anchorCtr="0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4717" y="1187982"/>
            <a:ext cx="7559675" cy="8315855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959" y="3563938"/>
            <a:ext cx="4724797" cy="5939898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0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961" y="1187979"/>
            <a:ext cx="4724796" cy="2375958"/>
          </a:xfrm>
        </p:spPr>
        <p:txBody>
          <a:bodyPr anchor="t" anchorCtr="0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14716" y="1187982"/>
            <a:ext cx="7467148" cy="8315855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961" y="3563938"/>
            <a:ext cx="4724796" cy="5939896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77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12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39510" y="1187980"/>
            <a:ext cx="2834878" cy="83158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4962" y="1187980"/>
            <a:ext cx="9449593" cy="83158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10116575" y="9735873"/>
            <a:ext cx="5002774" cy="955940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133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3" y="1072808"/>
            <a:ext cx="556176" cy="2547844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116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9064491" y="9578775"/>
            <a:ext cx="5479116" cy="1119630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33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32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961" y="1187979"/>
            <a:ext cx="13229431" cy="2375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961" y="3563938"/>
            <a:ext cx="13229431" cy="595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643543" y="302951"/>
            <a:ext cx="2530848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960" y="9909727"/>
            <a:ext cx="820060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284473" y="9909727"/>
            <a:ext cx="1889919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781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125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125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125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125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125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6575" y="8837836"/>
            <a:ext cx="5002774" cy="760387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1133947">
              <a:defRPr/>
            </a:pPr>
            <a:endParaRPr lang="en-US" sz="186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" y="1946937"/>
            <a:ext cx="556176" cy="2026643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116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64494" y="8712877"/>
            <a:ext cx="5479116" cy="890592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33947">
              <a:defRPr/>
            </a:pPr>
            <a:endParaRPr lang="en-US" sz="3025">
              <a:solidFill>
                <a:prstClr val="white"/>
              </a:solidFill>
              <a:latin typeface="Avenir Next LT Pro Light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A32728-C5F7-449E-8F69-191DD1BC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93589"/>
            <a:ext cx="15119350" cy="8504634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25"/>
          </a:p>
        </p:txBody>
      </p:sp>
      <p:pic>
        <p:nvPicPr>
          <p:cNvPr id="5" name="Picture 4" descr="A circular object with many lines&#10;&#10;AI-generated content may be incorrect.">
            <a:extLst>
              <a:ext uri="{FF2B5EF4-FFF2-40B4-BE49-F238E27FC236}">
                <a16:creationId xmlns:a16="http://schemas.microsoft.com/office/drawing/2014/main" id="{37934475-EB58-2313-0AB4-762BF18EF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68" b="11795"/>
          <a:stretch>
            <a:fillRect/>
          </a:stretch>
        </p:blipFill>
        <p:spPr>
          <a:xfrm>
            <a:off x="0" y="1093588"/>
            <a:ext cx="14174384" cy="8504636"/>
          </a:xfrm>
          <a:custGeom>
            <a:avLst/>
            <a:gdLst/>
            <a:ahLst/>
            <a:cxnLst/>
            <a:rect l="l" t="t" r="r" b="b"/>
            <a:pathLst>
              <a:path w="11429995" h="6858001">
                <a:moveTo>
                  <a:pt x="0" y="0"/>
                </a:moveTo>
                <a:lnTo>
                  <a:pt x="7624254" y="0"/>
                </a:lnTo>
                <a:lnTo>
                  <a:pt x="7862589" y="52181"/>
                </a:lnTo>
                <a:cubicBezTo>
                  <a:pt x="10504017" y="652275"/>
                  <a:pt x="11363091" y="1531476"/>
                  <a:pt x="11414106" y="2360939"/>
                </a:cubicBezTo>
                <a:cubicBezTo>
                  <a:pt x="11427932" y="2579799"/>
                  <a:pt x="11433644" y="2800687"/>
                  <a:pt x="11427598" y="3022918"/>
                </a:cubicBezTo>
                <a:cubicBezTo>
                  <a:pt x="11393176" y="4286859"/>
                  <a:pt x="10977952" y="5594221"/>
                  <a:pt x="9507339" y="6818588"/>
                </a:cubicBezTo>
                <a:lnTo>
                  <a:pt x="9458552" y="6858001"/>
                </a:lnTo>
                <a:lnTo>
                  <a:pt x="0" y="685800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8F539D3-3C02-4EDE-8291-375F97A20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417925">
            <a:off x="8841117" y="2677861"/>
            <a:ext cx="6886709" cy="5336093"/>
          </a:xfrm>
          <a:custGeom>
            <a:avLst/>
            <a:gdLst>
              <a:gd name="connsiteX0" fmla="*/ 4594048 w 9861488"/>
              <a:gd name="connsiteY0" fmla="*/ 11458472 h 11458472"/>
              <a:gd name="connsiteX1" fmla="*/ 0 w 9861488"/>
              <a:gd name="connsiteY1" fmla="*/ 5948221 h 11458472"/>
              <a:gd name="connsiteX2" fmla="*/ 1863 w 9861488"/>
              <a:gd name="connsiteY2" fmla="*/ 5698862 h 11458472"/>
              <a:gd name="connsiteX3" fmla="*/ 320025 w 9861488"/>
              <a:gd name="connsiteY3" fmla="*/ 3799836 h 11458472"/>
              <a:gd name="connsiteX4" fmla="*/ 3430486 w 9861488"/>
              <a:gd name="connsiteY4" fmla="*/ 295907 h 11458472"/>
              <a:gd name="connsiteX5" fmla="*/ 3863859 w 9861488"/>
              <a:gd name="connsiteY5" fmla="*/ 55612 h 11458472"/>
              <a:gd name="connsiteX6" fmla="*/ 3969651 w 9861488"/>
              <a:gd name="connsiteY6" fmla="*/ 0 h 11458472"/>
              <a:gd name="connsiteX7" fmla="*/ 9861488 w 9861488"/>
              <a:gd name="connsiteY7" fmla="*/ 7066862 h 11458472"/>
              <a:gd name="connsiteX8" fmla="*/ 4594048 w 9861488"/>
              <a:gd name="connsiteY8" fmla="*/ 11458472 h 11458472"/>
              <a:gd name="connsiteX0" fmla="*/ 0 w 9861488"/>
              <a:gd name="connsiteY0" fmla="*/ 5948221 h 11549912"/>
              <a:gd name="connsiteX1" fmla="*/ 1863 w 9861488"/>
              <a:gd name="connsiteY1" fmla="*/ 5698862 h 11549912"/>
              <a:gd name="connsiteX2" fmla="*/ 320025 w 9861488"/>
              <a:gd name="connsiteY2" fmla="*/ 3799836 h 11549912"/>
              <a:gd name="connsiteX3" fmla="*/ 3430486 w 9861488"/>
              <a:gd name="connsiteY3" fmla="*/ 295907 h 11549912"/>
              <a:gd name="connsiteX4" fmla="*/ 3863859 w 9861488"/>
              <a:gd name="connsiteY4" fmla="*/ 55612 h 11549912"/>
              <a:gd name="connsiteX5" fmla="*/ 3969651 w 9861488"/>
              <a:gd name="connsiteY5" fmla="*/ 0 h 11549912"/>
              <a:gd name="connsiteX6" fmla="*/ 9861488 w 9861488"/>
              <a:gd name="connsiteY6" fmla="*/ 7066862 h 11549912"/>
              <a:gd name="connsiteX7" fmla="*/ 4685488 w 9861488"/>
              <a:gd name="connsiteY7" fmla="*/ 11549912 h 11549912"/>
              <a:gd name="connsiteX0" fmla="*/ 0 w 9861488"/>
              <a:gd name="connsiteY0" fmla="*/ 5948221 h 7066862"/>
              <a:gd name="connsiteX1" fmla="*/ 1863 w 9861488"/>
              <a:gd name="connsiteY1" fmla="*/ 5698862 h 7066862"/>
              <a:gd name="connsiteX2" fmla="*/ 320025 w 9861488"/>
              <a:gd name="connsiteY2" fmla="*/ 3799836 h 7066862"/>
              <a:gd name="connsiteX3" fmla="*/ 3430486 w 9861488"/>
              <a:gd name="connsiteY3" fmla="*/ 295907 h 7066862"/>
              <a:gd name="connsiteX4" fmla="*/ 3863859 w 9861488"/>
              <a:gd name="connsiteY4" fmla="*/ 55612 h 7066862"/>
              <a:gd name="connsiteX5" fmla="*/ 3969651 w 9861488"/>
              <a:gd name="connsiteY5" fmla="*/ 0 h 7066862"/>
              <a:gd name="connsiteX6" fmla="*/ 9861488 w 9861488"/>
              <a:gd name="connsiteY6" fmla="*/ 7066862 h 7066862"/>
              <a:gd name="connsiteX0" fmla="*/ 0 w 3969651"/>
              <a:gd name="connsiteY0" fmla="*/ 5948221 h 5948221"/>
              <a:gd name="connsiteX1" fmla="*/ 1863 w 3969651"/>
              <a:gd name="connsiteY1" fmla="*/ 5698862 h 5948221"/>
              <a:gd name="connsiteX2" fmla="*/ 320025 w 3969651"/>
              <a:gd name="connsiteY2" fmla="*/ 3799836 h 5948221"/>
              <a:gd name="connsiteX3" fmla="*/ 3430486 w 3969651"/>
              <a:gd name="connsiteY3" fmla="*/ 295907 h 5948221"/>
              <a:gd name="connsiteX4" fmla="*/ 3863859 w 3969651"/>
              <a:gd name="connsiteY4" fmla="*/ 55612 h 5948221"/>
              <a:gd name="connsiteX5" fmla="*/ 3969651 w 3969651"/>
              <a:gd name="connsiteY5" fmla="*/ 0 h 594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69651" h="5948221">
                <a:moveTo>
                  <a:pt x="0" y="5948221"/>
                </a:moveTo>
                <a:lnTo>
                  <a:pt x="1863" y="5698862"/>
                </a:lnTo>
                <a:cubicBezTo>
                  <a:pt x="27184" y="5017139"/>
                  <a:pt x="133214" y="4368297"/>
                  <a:pt x="320025" y="3799836"/>
                </a:cubicBezTo>
                <a:cubicBezTo>
                  <a:pt x="810579" y="2305232"/>
                  <a:pt x="2027133" y="1118138"/>
                  <a:pt x="3430486" y="295907"/>
                </a:cubicBezTo>
                <a:cubicBezTo>
                  <a:pt x="3545941" y="228312"/>
                  <a:pt x="3692079" y="146862"/>
                  <a:pt x="3863859" y="55612"/>
                </a:cubicBezTo>
                <a:lnTo>
                  <a:pt x="3969651" y="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33947">
              <a:defRPr/>
            </a:pPr>
            <a:endParaRPr lang="en-US" sz="3025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857294-F3D3-940B-8E82-7A4B399AB78A}"/>
              </a:ext>
            </a:extLst>
          </p:cNvPr>
          <p:cNvSpPr/>
          <p:nvPr/>
        </p:nvSpPr>
        <p:spPr>
          <a:xfrm>
            <a:off x="3365033" y="1554112"/>
            <a:ext cx="7444313" cy="954092"/>
          </a:xfrm>
          <a:prstGeom prst="rect">
            <a:avLst/>
          </a:prstGeom>
          <a:noFill/>
        </p:spPr>
        <p:txBody>
          <a:bodyPr wrap="none" lIns="113395" tIns="56698" rIns="113395" bIns="56698">
            <a:spAutoFit/>
          </a:bodyPr>
          <a:lstStyle/>
          <a:p>
            <a:pPr algn="ctr"/>
            <a:r>
              <a:rPr lang="en-US" sz="5456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Ant Colony Simulator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301D7B-8174-7569-6DC3-79E09E47A18E}"/>
              </a:ext>
            </a:extLst>
          </p:cNvPr>
          <p:cNvSpPr/>
          <p:nvPr/>
        </p:nvSpPr>
        <p:spPr>
          <a:xfrm>
            <a:off x="6656752" y="2697046"/>
            <a:ext cx="4305300" cy="1823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u="sng" dirty="0"/>
              <a:t>How is this useful?</a:t>
            </a:r>
            <a:endParaRPr lang="en-GB" sz="1400" u="sng" dirty="0"/>
          </a:p>
          <a:p>
            <a:pPr algn="ctr"/>
            <a:endParaRPr lang="en-GB" sz="1400" u="sng" dirty="0"/>
          </a:p>
          <a:p>
            <a:pPr algn="ctr"/>
            <a:r>
              <a:rPr lang="en-US" sz="1400" dirty="0"/>
              <a:t>Ant colonies can lead us into the next generation of automation! 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They can help from anything from space exploration to home delivery services!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39B2314-1850-7926-C7D0-30A86927347A}"/>
              </a:ext>
            </a:extLst>
          </p:cNvPr>
          <p:cNvSpPr/>
          <p:nvPr/>
        </p:nvSpPr>
        <p:spPr>
          <a:xfrm>
            <a:off x="228833" y="7476222"/>
            <a:ext cx="5073754" cy="24076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u="sng" dirty="0"/>
              <a:t>Space Exploration</a:t>
            </a:r>
            <a:endParaRPr lang="en-GB" sz="1400" u="sng" dirty="0"/>
          </a:p>
          <a:p>
            <a:pPr algn="ctr"/>
            <a:endParaRPr lang="en-US" sz="1400" u="sng" dirty="0"/>
          </a:p>
          <a:p>
            <a:pPr algn="ctr"/>
            <a:r>
              <a:rPr lang="en-US" sz="1400" dirty="0"/>
              <a:t>Martian rovers are suspiciously like ants. They spread out and search for interesting foreign objects to study the creation of planets. When a rover finds something of value, all the other rovers in the area converge onto that one point and exhaust all the natural resources.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This is what a colony of ants do when they find food, using pheromones, a chemical signal. </a:t>
            </a:r>
            <a:endParaRPr lang="en-GB" sz="1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5E22CE9-047C-EEEE-1E85-351B477C665B}"/>
              </a:ext>
            </a:extLst>
          </p:cNvPr>
          <p:cNvSpPr/>
          <p:nvPr/>
        </p:nvSpPr>
        <p:spPr>
          <a:xfrm>
            <a:off x="9352364" y="6631879"/>
            <a:ext cx="5479115" cy="25058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u="sng" dirty="0"/>
              <a:t>Home Delivery Services</a:t>
            </a:r>
            <a:endParaRPr lang="en-GB" sz="1400" u="sng" dirty="0"/>
          </a:p>
          <a:p>
            <a:pPr algn="ctr"/>
            <a:endParaRPr lang="en-US" sz="1400" u="sng" dirty="0"/>
          </a:p>
          <a:p>
            <a:pPr algn="ctr"/>
            <a:r>
              <a:rPr lang="en-US" sz="1400" dirty="0"/>
              <a:t>You may have seen those robot dogs in California delivering people's packages. This is also being tested in Leeds now!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The dogs will need to be able to recall themselves, whenever they are low on battery or when they have finished delivering parcels. By leaving a digital pheromone trail, they can quickly find the shortest route back to base and streamline deliveries. Without the need for a person in a rush who might leave your parcel behind the bin.</a:t>
            </a:r>
          </a:p>
        </p:txBody>
      </p:sp>
      <p:pic>
        <p:nvPicPr>
          <p:cNvPr id="1026" name="Picture 2" descr="How ants and honeybees could help robots navigate on Mars">
            <a:extLst>
              <a:ext uri="{FF2B5EF4-FFF2-40B4-BE49-F238E27FC236}">
                <a16:creationId xmlns:a16="http://schemas.microsoft.com/office/drawing/2014/main" id="{14136F3C-2792-4434-F21E-A7F92149F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13" y="2960258"/>
            <a:ext cx="3589109" cy="2018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showing Evri's robo-dog in action on a residential street">
            <a:extLst>
              <a:ext uri="{FF2B5EF4-FFF2-40B4-BE49-F238E27FC236}">
                <a16:creationId xmlns:a16="http://schemas.microsoft.com/office/drawing/2014/main" id="{EED18BE4-67AD-EE48-36C1-4D6131A48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280" y="6699789"/>
            <a:ext cx="2027503" cy="304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62B5991-D459-228B-DB95-2706ADFD0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007091" y="2972452"/>
            <a:ext cx="1606006" cy="1606006"/>
          </a:xfrm>
          <a:prstGeom prst="rect">
            <a:avLst/>
          </a:prstGeom>
        </p:spPr>
      </p:pic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2A90A681-43DF-E587-0E5F-8072360C5E44}"/>
              </a:ext>
            </a:extLst>
          </p:cNvPr>
          <p:cNvCxnSpPr>
            <a:cxnSpLocks/>
            <a:endCxn id="1026" idx="3"/>
          </p:cNvCxnSpPr>
          <p:nvPr/>
        </p:nvCxnSpPr>
        <p:spPr>
          <a:xfrm rot="10800000" flipV="1">
            <a:off x="4900422" y="3733800"/>
            <a:ext cx="1756330" cy="235848"/>
          </a:xfrm>
          <a:prstGeom prst="curvedConnector3">
            <a:avLst>
              <a:gd name="adj1" fmla="val 49277"/>
            </a:avLst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7DA45567-8024-3E0B-9FDD-65C780FB068C}"/>
              </a:ext>
            </a:extLst>
          </p:cNvPr>
          <p:cNvCxnSpPr>
            <a:cxnSpLocks/>
            <a:stCxn id="13" idx="0"/>
            <a:endCxn id="1026" idx="2"/>
          </p:cNvCxnSpPr>
          <p:nvPr/>
        </p:nvCxnSpPr>
        <p:spPr>
          <a:xfrm rot="5400000" flipH="1" flipV="1">
            <a:off x="1687197" y="6057551"/>
            <a:ext cx="2497185" cy="34015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B45F0D92-5365-CC65-8FC9-85FA7B669A42}"/>
              </a:ext>
            </a:extLst>
          </p:cNvPr>
          <p:cNvCxnSpPr>
            <a:cxnSpLocks/>
            <a:stCxn id="1028" idx="1"/>
            <a:endCxn id="13" idx="3"/>
          </p:cNvCxnSpPr>
          <p:nvPr/>
        </p:nvCxnSpPr>
        <p:spPr>
          <a:xfrm rot="10800000" flipV="1">
            <a:off x="5302588" y="8220416"/>
            <a:ext cx="1246693" cy="459627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F0A6E06C-54A1-33D8-2E28-E0873E67CBE7}"/>
              </a:ext>
            </a:extLst>
          </p:cNvPr>
          <p:cNvCxnSpPr>
            <a:cxnSpLocks/>
            <a:stCxn id="15" idx="1"/>
            <a:endCxn id="1028" idx="3"/>
          </p:cNvCxnSpPr>
          <p:nvPr/>
        </p:nvCxnSpPr>
        <p:spPr>
          <a:xfrm rot="10800000" flipV="1">
            <a:off x="8576784" y="7884789"/>
            <a:ext cx="775581" cy="335627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C9DA4C3F-97C9-F995-F32E-3A50CC4D8BF2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671732" y="5591380"/>
            <a:ext cx="4420190" cy="1040499"/>
          </a:xfrm>
          <a:prstGeom prst="curvedConnector2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E9D21CA1-1539-80D5-0EFE-226FBA15B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8732075" y="4788377"/>
            <a:ext cx="1606006" cy="160600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A8F04B9-FA75-0CC2-2A16-09A9C44EC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0278" y="5561159"/>
            <a:ext cx="1606006" cy="1606006"/>
          </a:xfrm>
          <a:prstGeom prst="rect">
            <a:avLst/>
          </a:prstGeom>
        </p:spPr>
      </p:pic>
      <p:pic>
        <p:nvPicPr>
          <p:cNvPr id="1040" name="Picture 16" descr="13,500+ Ant Colony Stock Photos, Pictures &amp; Royalty-Free Images - iStock |  Fire ant colony, Ant colony plant">
            <a:extLst>
              <a:ext uri="{FF2B5EF4-FFF2-40B4-BE49-F238E27FC236}">
                <a16:creationId xmlns:a16="http://schemas.microsoft.com/office/drawing/2014/main" id="{45087885-CD2A-30BC-54D7-5B9F94925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1781" y="2620671"/>
            <a:ext cx="3360231" cy="278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7DBC9640-F8A4-9E00-7BEB-10E88BB9389E}"/>
              </a:ext>
            </a:extLst>
          </p:cNvPr>
          <p:cNvSpPr txBox="1"/>
          <p:nvPr/>
        </p:nvSpPr>
        <p:spPr>
          <a:xfrm>
            <a:off x="10718447" y="358008"/>
            <a:ext cx="4123565" cy="4676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Ricky Nandhra - 220076203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4352711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198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Avenir Next LT Pro Light</vt:lpstr>
      <vt:lpstr>Sitka Subheading</vt:lpstr>
      <vt:lpstr>PebbleVTI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Ricky Nandhra</dc:creator>
  <cp:lastModifiedBy>Ricky Nandhra</cp:lastModifiedBy>
  <cp:revision>1</cp:revision>
  <dcterms:created xsi:type="dcterms:W3CDTF">2025-10-17T11:48:26Z</dcterms:created>
  <dcterms:modified xsi:type="dcterms:W3CDTF">2025-10-17T12:46:42Z</dcterms:modified>
</cp:coreProperties>
</file>